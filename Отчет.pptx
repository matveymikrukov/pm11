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64" r:id="rId15"/>
    <p:sldId id="265" r:id="rId1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Host Grotesk Light" panose="020B0604020202020204" charset="0"/>
      <p:regular r:id="rId22"/>
    </p:embeddedFont>
    <p:embeddedFont>
      <p:font typeface="Host Grotesk Medium" panose="020B0604020202020204" charset="0"/>
      <p:regular r:id="rId23"/>
    </p:embeddedFont>
    <p:embeddedFont>
      <p:font typeface="Roboto" panose="02000000000000000000" pitchFamily="2" charset="0"/>
      <p:regular r:id="rId24"/>
    </p:embeddedFont>
    <p:embeddedFont>
      <p:font typeface="Roboto Bold" panose="02000000000000000000" charset="0"/>
      <p:regular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32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B421-CB66-66F6-6B21-F43F76DC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E3F52-33BF-9871-137E-A216585BC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885AC-625C-4923-CC4B-BEDAFF2FE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D8CB4-77A4-FF32-0E9E-BD431C59A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60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A6A1E-4C4A-C647-2B31-95EE980DD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F381F3-C4F3-A7EF-5FED-6958DB2DE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30AB3F-F3F2-751A-0312-03C38D13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BE68B6-1FCE-52BA-893D-51E506D0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F282BE-0276-2B8C-BEF9-037AB3C8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1520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5E985-55F5-767C-1E9C-862CD7C6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D0959-D7D0-6867-6740-C2D958E6F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429023-FA4C-434D-88D8-3EA4B9C7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59007F-88CD-625E-CB12-A5D1E4B8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4C59C4-79C7-3B55-2C10-6C825FBF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6800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FFA40-2473-1E26-D6CB-1839F4B9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7B6656-2421-B4E4-7A3A-9E0B0FF5A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2FD27-EAB5-6329-7489-73AF4884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D6624E-C9E1-F532-FD81-1B1CF4EE2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2EDC61-FF83-A6C2-3A3C-E893C333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6666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ABE0F-5699-2CE5-AB59-97CFCD1B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29210-5D73-1DCA-0AC2-2E4E2E343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4FD3D4-0B00-83C1-B9BC-C0E87F636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DE4C25-DBF2-3367-B5C6-FB568AD0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93ABA0-C5D8-4186-57AF-05A0A5A15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23B79-D8AA-52B7-F9E2-833194BF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7994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75D00-435D-E857-13B2-3B8CA44D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EDA36F-F628-4CBA-DCC0-1A60B8282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611D6B-BBFD-9E2D-FC6F-D075E8DE7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197FEE-9140-AC92-1682-49E8F5978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A024A78-F075-5EED-47FE-A1A34B617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1A25355-23E6-38DD-824E-71B8B7F2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47171D-3504-1270-B5A1-0F140163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3824E1-0CF7-EF5D-4F19-48A3665F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6153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2F826-745A-C761-C08E-6DBFCE8D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609BC2-5B05-7F96-F447-7458063D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B45B4A-7AE9-ADBA-A2C8-FC2B0D31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11EEFC-7AE3-594C-269C-39363302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1686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900BBA-12B3-7BB5-42C7-E7CE5BE2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ECAA5E-886B-2AA6-4F3D-2768463B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64A2EE-57F3-9B52-AEA5-790DFA71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9419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1AC09-B6D5-D73D-F6F1-610D0B87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9CE1D-A2CD-552C-7FB9-CD3914F91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D21990-9036-B499-0907-DF6CA4EFE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426E96-7F98-DD7E-A723-6E188D3F3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1D6D00-68D4-5047-DFB0-187EAB98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C789BF-430A-E9D9-7A21-9787C033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7757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6D241-8367-2617-0E8C-CDBC44FD4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02A377-5C9A-266B-3575-C39BF359D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A5F8E2-5E2A-1E0E-4B52-A45614181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D322C4-9977-A061-9D56-6803AC20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BBD89E-054E-EED3-2F7E-8FAA7A84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F7A332-A51D-57D6-2524-606A6B16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804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CE911-7EA7-E89F-E3E6-D52D81EE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D7E78D-2AB8-6FA9-8432-AB80904C2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729938-BA9F-BFAA-006D-3A88C0BB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90F9E5-6403-E521-A90B-955CCF26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36C176-CAB7-63E2-1DE4-7650076C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8010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121AEB-4556-54CF-38D3-0D982CCC5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189D16-486E-CCA0-2BD6-58EFA9BBC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174EDF-FC29-91E3-84AA-399E57CC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F67B60-B1EA-4C7A-B2BA-7ED70D45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9B700-9CEC-94CE-2A38-7F46AAD42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5915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66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92CA1-4313-2905-F546-7A86CCFF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EFCABA-E506-093E-7AC0-19D9349C4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0F4271-3980-342B-9AFD-6C2770FFD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51A5B-A8E8-4BC0-B443-42F8F865327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2D6055-B5FE-44AE-EE95-54E199445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FA97F0-565C-5F77-8C98-9E534C51B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05266-18AD-423D-A98B-00BC3F205C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9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174" y="411807"/>
            <a:ext cx="8151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Разработка и администрирование реляционной базы данных для учёта торгово-закупочных операций пивоваренного предприятия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81174" y="1928587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 по производственной практике · ПМ.11 · Специальность 09.02.07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81174" y="2258782"/>
            <a:ext cx="2289125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ООО «СЛОБОДСКАЯ ПИВОВАРНЯ»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68997" y="2173802"/>
            <a:ext cx="1209749" cy="255091"/>
          </a:xfrm>
          <a:prstGeom prst="roundRect">
            <a:avLst>
              <a:gd name="adj" fmla="val 18673"/>
            </a:avLst>
          </a:prstGeom>
          <a:noFill/>
          <a:ln/>
          <a:effectLst>
            <a:outerShdw blurRad="101600" dist="50800" dir="16200000" algn="bl" rotWithShape="0">
              <a:srgbClr val="95CCDA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3FFB4-D011-948C-E33B-9FBA37B510D9}"/>
              </a:ext>
            </a:extLst>
          </p:cNvPr>
          <p:cNvSpPr txBox="1"/>
          <p:nvPr/>
        </p:nvSpPr>
        <p:spPr>
          <a:xfrm>
            <a:off x="417888" y="2714608"/>
            <a:ext cx="314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Микрюков Матвей 24п-1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">
            <a:extLst>
              <a:ext uri="{FF2B5EF4-FFF2-40B4-BE49-F238E27FC236}">
                <a16:creationId xmlns:a16="http://schemas.microsoft.com/office/drawing/2014/main" id="{F735F9EB-0BE6-1E6C-15ED-B5E56B9CEEC8}"/>
              </a:ext>
            </a:extLst>
          </p:cNvPr>
          <p:cNvSpPr/>
          <p:nvPr/>
        </p:nvSpPr>
        <p:spPr>
          <a:xfrm>
            <a:off x="3206782" y="1426859"/>
            <a:ext cx="2612722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48ED2F6-0026-4A4E-5893-BBD85268B9ED}"/>
              </a:ext>
            </a:extLst>
          </p:cNvPr>
          <p:cNvSpPr/>
          <p:nvPr/>
        </p:nvSpPr>
        <p:spPr>
          <a:xfrm>
            <a:off x="5947147" y="1431635"/>
            <a:ext cx="2413396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F8786EBA-25AB-94FC-471C-BDE6F7F3CF06}"/>
              </a:ext>
            </a:extLst>
          </p:cNvPr>
          <p:cNvSpPr/>
          <p:nvPr/>
        </p:nvSpPr>
        <p:spPr>
          <a:xfrm>
            <a:off x="408181" y="2444796"/>
            <a:ext cx="2622723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18AF9244-310B-1E41-B36B-01C5F05BDA5E}"/>
              </a:ext>
            </a:extLst>
          </p:cNvPr>
          <p:cNvSpPr/>
          <p:nvPr/>
        </p:nvSpPr>
        <p:spPr>
          <a:xfrm>
            <a:off x="3216632" y="2442448"/>
            <a:ext cx="2602872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D00AD9B8-9FC2-2A78-9DF8-5B6045B83CF9}"/>
              </a:ext>
            </a:extLst>
          </p:cNvPr>
          <p:cNvSpPr/>
          <p:nvPr/>
        </p:nvSpPr>
        <p:spPr>
          <a:xfrm>
            <a:off x="5947147" y="2434885"/>
            <a:ext cx="2413397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237D15BD-673C-146F-A00D-678FDB52EB97}"/>
              </a:ext>
            </a:extLst>
          </p:cNvPr>
          <p:cNvSpPr/>
          <p:nvPr/>
        </p:nvSpPr>
        <p:spPr>
          <a:xfrm>
            <a:off x="408182" y="3469715"/>
            <a:ext cx="2622722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7E90CEE0-0A63-4B03-E74C-4A059D4BBC90}"/>
              </a:ext>
            </a:extLst>
          </p:cNvPr>
          <p:cNvSpPr/>
          <p:nvPr/>
        </p:nvSpPr>
        <p:spPr>
          <a:xfrm>
            <a:off x="3211706" y="3457957"/>
            <a:ext cx="2602872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0C1DECFF-B8BE-C2AA-AE90-4928C3A4BEE9}"/>
              </a:ext>
            </a:extLst>
          </p:cNvPr>
          <p:cNvSpPr/>
          <p:nvPr/>
        </p:nvSpPr>
        <p:spPr>
          <a:xfrm>
            <a:off x="5947147" y="3450393"/>
            <a:ext cx="2413397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B03B736A-5757-17AC-7532-78049BAC6750}"/>
              </a:ext>
            </a:extLst>
          </p:cNvPr>
          <p:cNvSpPr/>
          <p:nvPr/>
        </p:nvSpPr>
        <p:spPr>
          <a:xfrm>
            <a:off x="408181" y="1431635"/>
            <a:ext cx="2622722" cy="87328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96119" y="74667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Содержание отчёта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31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</a:rPr>
              <a:t>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804020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Анализ и предварительная обработка информации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60601" y="14731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2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601" y="1695078"/>
            <a:ext cx="2622724" cy="1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0601" y="1804020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Выделение объектов и атрибутов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025083" y="14731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83" y="1709291"/>
            <a:ext cx="2622724" cy="1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5083" y="1804020"/>
            <a:ext cx="24133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Концептуальная модель БД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24949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</a:rPr>
              <a:t>4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02719"/>
            <a:ext cx="2622724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2825800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Проектирование и нормализация (3NF)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3260601" y="24949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3260601" y="2825800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Построение и наполнение БД в MS SQL Server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025083" y="24949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6025083" y="2825800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Уровни доступа пользователей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96119" y="351673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496119" y="38475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Запросы и отчёты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3260601" y="351673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3260601" y="384757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Группы пользователей и система паролей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6025083" y="351673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6025083" y="384757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Резервное копирование и восстановление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2248"/>
            <a:ext cx="69979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Анализ и рабочее место практиканта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7836"/>
            <a:ext cx="8151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Задача: автоматизировать обработку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Книги покупок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Книги продаж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 квартал 2026 г.), обеспечить контроль маркировки в системе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«Честный Знак»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(ГИС МТ). Цель — перевод Excel-таблиц в единую реляционную среду MS SQL Server.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15108"/>
            <a:ext cx="4004965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42640" y="25616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Процессор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868141"/>
            <a:ext cx="371192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 Core i5-12450H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415108"/>
            <a:ext cx="4005039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789363" y="25616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Память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868141"/>
            <a:ext cx="371199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ГБ DDR4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369022"/>
            <a:ext cx="4004965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2640" y="35155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Видеокарта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822055"/>
            <a:ext cx="371192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NVIDIA GeForce RTX 3050 (6GB)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3369022"/>
            <a:ext cx="4005039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789363" y="35155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ОС / СУБД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9363" y="3822055"/>
            <a:ext cx="371199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11 Pro / SSMS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22" y="624838"/>
            <a:ext cx="66264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Сущности и атрибуты базы данных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01453"/>
            <a:ext cx="38795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Справочники (независимые сущности)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4668"/>
            <a:ext cx="3902943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Склады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КодСклада, НазваниеСклада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Контрагенты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КодКонтрагента, НазваниеОрганизации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Договоры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КодДоговора, НомерДоговора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ВидыОпераций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КодОперации, НазваниеОперации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101453"/>
            <a:ext cx="32893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Журналы (зависимые сущности)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464668"/>
            <a:ext cx="3902943" cy="132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КнигаПокупок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КодЗаписи, ДатаДокумента, НомерДокумента, Сумма, СтатусФактуры, FK: Склад, Операция, Ответственный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КнигаПродаж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КодЗаписи, НомерДокумента, ДатаДокумента, ТипДокумента, Сумма, FK: Контрагент, Склад, Договор, Менеджер, СтатусГИСМТ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612412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Концептуальная модель и нормализация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1771948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Принцип связей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0912" y="2031429"/>
            <a:ext cx="3685952" cy="73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Связи строятся по принципу </a:t>
            </a:r>
            <a:r>
              <a:rPr lang="en-US" sz="8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«один-ко-многим» (1:M)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один склад может фигурировать во множестве записей, но каждая запись жёстко привязана только к одному складу. Это гарантирует логическую целостность и исключает аномалии при удалении или изменении данных.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50912" y="2857202"/>
            <a:ext cx="26914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Третья нормальная форма (3NF)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0912" y="3116684"/>
            <a:ext cx="3685952" cy="73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Исходные Excel-данные содержали избыточность (дубликаты названий). Повторяющиеся текстовые наименования перенесены в справочные таблицы, в основных таблицах заменены на числовые идентификаторы (внешние ключи). CASE-средство: встроенный инструмент проектирования схем в SSMS.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50" y="966713"/>
            <a:ext cx="3685952" cy="3685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8">
            <a:extLst>
              <a:ext uri="{FF2B5EF4-FFF2-40B4-BE49-F238E27FC236}">
                <a16:creationId xmlns:a16="http://schemas.microsoft.com/office/drawing/2014/main" id="{2499E237-307B-DD25-ED63-CAA5CA393C8C}"/>
              </a:ext>
            </a:extLst>
          </p:cNvPr>
          <p:cNvSpPr/>
          <p:nvPr/>
        </p:nvSpPr>
        <p:spPr>
          <a:xfrm>
            <a:off x="496119" y="2752986"/>
            <a:ext cx="2584623" cy="1071822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13EAE51-4238-E7B2-7336-3F3ACCD1BED1}"/>
              </a:ext>
            </a:extLst>
          </p:cNvPr>
          <p:cNvSpPr/>
          <p:nvPr/>
        </p:nvSpPr>
        <p:spPr>
          <a:xfrm>
            <a:off x="3260601" y="2752986"/>
            <a:ext cx="2584623" cy="1071822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87E990E1-5ED4-CCF8-9C7C-B37D18B3F2F7}"/>
              </a:ext>
            </a:extLst>
          </p:cNvPr>
          <p:cNvSpPr/>
          <p:nvPr/>
        </p:nvSpPr>
        <p:spPr>
          <a:xfrm>
            <a:off x="6063183" y="2752986"/>
            <a:ext cx="2584623" cy="1071822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96119" y="1318617"/>
            <a:ext cx="56818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Построение и наполнение БД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74205"/>
            <a:ext cx="8151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База данных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«Пивзавод»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развёрнута с помощью T-SQL. Типы данных оптимизированы: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DECIMAL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для сумм,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для дат,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NVARCHAR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для поддержки кириллицы. Справочники и журналы заполнены данными из Excel (свыше 15 строк в каждой таблице).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4077" y="29322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PRIMARY KEY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3238798"/>
            <a:ext cx="2243956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Первичные ключи для всех таблиц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478560" y="29322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FOREIGN KEY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78560" y="3238798"/>
            <a:ext cx="2243956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Внешние ключи для ссылочной целостности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43042" y="29322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UNIQUE / NOT NULL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43042" y="3238798"/>
            <a:ext cx="2243956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Ограничения уникальности и обязательности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496"/>
            <a:ext cx="568955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Уровни доступа пользователей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44712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Роль </a:t>
            </a:r>
            <a:r>
              <a:rPr lang="en-US" sz="13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db_Buhgalter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84561"/>
            <a:ext cx="3911054" cy="59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Полные права: </a:t>
            </a:r>
            <a:r>
              <a:rPr lang="en-US" sz="10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SELECT, INSERT, UPDATE, DELETE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во всех таблицах базы данных для ведения комплексного финансово-хозяйственного учёта.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2256979"/>
            <a:ext cx="3911054" cy="19050"/>
          </a:xfrm>
          <a:prstGeom prst="roundRect">
            <a:avLst>
              <a:gd name="adj" fmla="val 60000"/>
            </a:avLst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96119" y="2454622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Роль </a:t>
            </a:r>
            <a:r>
              <a:rPr lang="en-US" sz="13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db_Logist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2794471"/>
            <a:ext cx="3911054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справочником </a:t>
            </a:r>
            <a:r>
              <a:rPr lang="en-US" sz="10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Склады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(SELECT, INSERT, UPDATE) и </a:t>
            </a:r>
            <a:r>
              <a:rPr lang="en-US" sz="10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только чтение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документов КнигиПокупок и КнигиПродаж.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41590" y="1160859"/>
            <a:ext cx="3911054" cy="3437186"/>
          </a:xfrm>
          <a:prstGeom prst="roundRect">
            <a:avLst>
              <a:gd name="adj" fmla="val 1651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734892" y="1160859"/>
            <a:ext cx="3924449" cy="3437186"/>
          </a:xfrm>
          <a:prstGeom prst="roundRect">
            <a:avLst>
              <a:gd name="adj" fmla="val 590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903738" y="1295921"/>
            <a:ext cx="3586758" cy="3167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Создание ролей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[db_Buhgalter];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[db_Logist];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Права Бухгалтера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UPDATE, DELETE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[dbo].[КнигаПродаж]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[db_Buhgalter];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Права Логиста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[dbo].[Склады] TO [db_Logist];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[dbo].[КнигаПродаж]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[db_Logist];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91195"/>
            <a:ext cx="375984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SQL-запросы и отчёты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52500"/>
            <a:ext cx="810064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анализа торгово-закупочной деятельности разработаны программные SQL-запросы. Ниже представлены скриншоты выполненных запросов в SSMS.</a:t>
            </a:r>
            <a:endParaRPr lang="en-US" sz="9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AABC8C2-1406-E79C-4CA5-490BA9BD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03" y="1274415"/>
            <a:ext cx="6573520" cy="3644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198BC-5F4F-1325-A7DB-9C056059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BE6025-EF6D-AC67-53D2-1EB20BA16EE6}"/>
              </a:ext>
            </a:extLst>
          </p:cNvPr>
          <p:cNvSpPr/>
          <p:nvPr/>
        </p:nvSpPr>
        <p:spPr>
          <a:xfrm>
            <a:off x="521643" y="391195"/>
            <a:ext cx="375984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SQL-запросы и отчёты</a:t>
            </a:r>
            <a:endParaRPr lang="en-US" sz="23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BBF395-D35A-D4BB-D7FD-A506EDF9B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1100191"/>
            <a:ext cx="7589520" cy="380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41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A9A68F-9388-73C8-3B0A-B19AEB745075}"/>
              </a:ext>
            </a:extLst>
          </p:cNvPr>
          <p:cNvSpPr/>
          <p:nvPr/>
        </p:nvSpPr>
        <p:spPr>
          <a:xfrm>
            <a:off x="521643" y="391195"/>
            <a:ext cx="375984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SQL-запросы и отчёты</a:t>
            </a:r>
            <a:endParaRPr lang="en-US" sz="23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18A4B4-D444-4685-67A7-6A3D12ED5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01" y="1003510"/>
            <a:ext cx="7627172" cy="313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4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BF075E-705F-ABDF-764F-3080A2E0D3F8}"/>
              </a:ext>
            </a:extLst>
          </p:cNvPr>
          <p:cNvSpPr/>
          <p:nvPr/>
        </p:nvSpPr>
        <p:spPr>
          <a:xfrm>
            <a:off x="521643" y="391195"/>
            <a:ext cx="375984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SQL-запросы и отчёты</a:t>
            </a:r>
            <a:endParaRPr lang="en-US" sz="23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930A96-9DFB-DE7A-C35C-720901D1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5" y="1151068"/>
            <a:ext cx="8474689" cy="329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4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C61FE2-4891-9994-E8E2-95EC9B1533AA}"/>
              </a:ext>
            </a:extLst>
          </p:cNvPr>
          <p:cNvSpPr/>
          <p:nvPr/>
        </p:nvSpPr>
        <p:spPr>
          <a:xfrm>
            <a:off x="521643" y="391195"/>
            <a:ext cx="375984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SQL-запросы и отчёты</a:t>
            </a:r>
            <a:endParaRPr lang="en-US" sz="23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ABA587-AA8B-5BBE-82FC-FAE6FA13E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02" y="1360785"/>
            <a:ext cx="8433995" cy="264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5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9A6B648-7586-E7B4-E227-E9EC4E50545C}"/>
              </a:ext>
            </a:extLst>
          </p:cNvPr>
          <p:cNvSpPr/>
          <p:nvPr/>
        </p:nvSpPr>
        <p:spPr>
          <a:xfrm>
            <a:off x="544951" y="370922"/>
            <a:ext cx="375984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SQL-запросы и отчёты</a:t>
            </a:r>
            <a:endParaRPr lang="en-US" sz="23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B04F7E-AE96-1161-3DA3-C6094382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22" y="1281738"/>
            <a:ext cx="8461555" cy="311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90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18802"/>
            <a:ext cx="610284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Безопасность и резервное копирование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823889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Система паролей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090365"/>
            <a:ext cx="2549054" cy="7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Активирован параметр </a:t>
            </a:r>
            <a:r>
              <a:rPr lang="en-US" sz="8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CHECK_POLICY = ON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пароль не менее 8 символов, обязательны спецсимволы, цифры, заглавные и строчные буквы. Роли привязаны к доменным учётным записям сотрудников ИТ-отдела и бухгалтерии.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74489" y="2941216"/>
            <a:ext cx="215748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Резервное копирование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3207693"/>
            <a:ext cx="2549054" cy="608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Полный бэкап (</a:t>
            </a:r>
            <a:r>
              <a:rPr lang="en-US" sz="8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Full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через SSMS: Object Explorer → Задачи → Создать резервную копию. Путь: </a:t>
            </a:r>
            <a:r>
              <a:rPr lang="en-US" sz="8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D:\Backup\Пивзавод.bak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дублированием в сетевую папку предприятия.</a:t>
            </a:r>
            <a:endParaRPr lang="en-US" sz="8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541A3F-0D95-6868-432F-420BF7F12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330" y="885372"/>
            <a:ext cx="5355923" cy="39261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1">
            <a:extLst>
              <a:ext uri="{FF2B5EF4-FFF2-40B4-BE49-F238E27FC236}">
                <a16:creationId xmlns:a16="http://schemas.microsoft.com/office/drawing/2014/main" id="{CF050FBC-8E9B-6158-C2AA-CC37BC2E1E3A}"/>
              </a:ext>
            </a:extLst>
          </p:cNvPr>
          <p:cNvSpPr/>
          <p:nvPr/>
        </p:nvSpPr>
        <p:spPr>
          <a:xfrm>
            <a:off x="4626248" y="1888555"/>
            <a:ext cx="4021634" cy="1171426"/>
          </a:xfrm>
          <a:prstGeom prst="roundRect">
            <a:avLst>
              <a:gd name="adj" fmla="val 44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11005FAE-ED55-742B-6A43-E705D5D83349}"/>
              </a:ext>
            </a:extLst>
          </p:cNvPr>
          <p:cNvSpPr/>
          <p:nvPr/>
        </p:nvSpPr>
        <p:spPr>
          <a:xfrm>
            <a:off x="496119" y="3175248"/>
            <a:ext cx="4021634" cy="1171426"/>
          </a:xfrm>
          <a:prstGeom prst="roundRect">
            <a:avLst>
              <a:gd name="adj" fmla="val 44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96119" y="41039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Заключение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60686"/>
            <a:ext cx="8151763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ходе производственной практики по модулю </a:t>
            </a:r>
            <a:r>
              <a:rPr lang="en-US" sz="9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ПМ.11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на базе ООО «Слободская Пивоварня» спроектирована, нормализована и реализована реляционная БД </a:t>
            </a:r>
            <a:r>
              <a:rPr lang="en-US" sz="9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«Пивзавод»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MS SQL Server.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88555"/>
            <a:ext cx="4021634" cy="1171426"/>
          </a:xfrm>
          <a:prstGeom prst="roundRect">
            <a:avLst>
              <a:gd name="adj" fmla="val 44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3"/>
          <p:cNvSpPr/>
          <p:nvPr/>
        </p:nvSpPr>
        <p:spPr>
          <a:xfrm>
            <a:off x="631842" y="2282308"/>
            <a:ext cx="168406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Анализ документации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31842" y="2541269"/>
            <a:ext cx="376416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Книги покупок и продаж обработаны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4754984" y="228230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Схема данных 3NF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54984" y="2541269"/>
            <a:ext cx="376416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Нормализация и ER-диаграмма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624855" y="358206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Роли и пароли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24855" y="3841030"/>
            <a:ext cx="376416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db_Buhgalter, db_Logist, CHECK_POLICY</a:t>
            </a:r>
            <a:endParaRPr lang="en-US" sz="950" dirty="0"/>
          </a:p>
        </p:txBody>
      </p:sp>
      <p:sp>
        <p:nvSpPr>
          <p:cNvPr id="19" name="Shape 11"/>
          <p:cNvSpPr/>
          <p:nvPr/>
        </p:nvSpPr>
        <p:spPr>
          <a:xfrm>
            <a:off x="4626248" y="3168477"/>
            <a:ext cx="4021634" cy="1171426"/>
          </a:xfrm>
          <a:prstGeom prst="roundRect">
            <a:avLst>
              <a:gd name="adj" fmla="val 44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2"/>
          <p:cNvSpPr/>
          <p:nvPr/>
        </p:nvSpPr>
        <p:spPr>
          <a:xfrm>
            <a:off x="4754984" y="3583930"/>
            <a:ext cx="186697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Резервное копирование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4754984" y="3842891"/>
            <a:ext cx="376416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Автоматический бэкап и восстановление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702</Words>
  <Application>Microsoft Office PowerPoint</Application>
  <PresentationFormat>Экран (16:9)</PresentationFormat>
  <Paragraphs>109</Paragraphs>
  <Slides>15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Aptos Display</vt:lpstr>
      <vt:lpstr>Roboto Bold</vt:lpstr>
      <vt:lpstr>Aptos</vt:lpstr>
      <vt:lpstr>Host Grotesk Medium</vt:lpstr>
      <vt:lpstr>Consolas</vt:lpstr>
      <vt:lpstr>Host Grotesk Light</vt:lpstr>
      <vt:lpstr>Roboto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matvey mikrukov</cp:lastModifiedBy>
  <cp:revision>3</cp:revision>
  <dcterms:created xsi:type="dcterms:W3CDTF">2026-06-23T00:04:14Z</dcterms:created>
  <dcterms:modified xsi:type="dcterms:W3CDTF">2026-06-23T07:37:48Z</dcterms:modified>
</cp:coreProperties>
</file>